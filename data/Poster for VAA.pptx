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21383625" cy="302799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5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E7C7F1-2799-1316-8622-39541B3EC535}" v="2" dt="2026-06-27T12:57:39.219"/>
    <p1510:client id="{CC76ACFB-2439-471C-B8FB-2B197CD13ACD}" v="78" dt="2026-06-27T17:28:46.919"/>
    <p1510:client id="{DDE72C50-0E70-075F-7912-1248C82E5C4F}" v="6" dt="2026-06-27T06:53:28.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5706" autoAdjust="0"/>
  </p:normalViewPr>
  <p:slideViewPr>
    <p:cSldViewPr snapToGrid="0">
      <p:cViewPr>
        <p:scale>
          <a:sx n="25" d="100"/>
          <a:sy n="25" d="100"/>
        </p:scale>
        <p:origin x="1258" y="-2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D8786-1F23-4C25-A07A-93284786D564}" type="datetimeFigureOut">
              <a:rPr lang="en-SG" smtClean="0"/>
              <a:t>27/6/2026</a:t>
            </a:fld>
            <a:endParaRPr lang="en-SG"/>
          </a:p>
        </p:txBody>
      </p:sp>
      <p:sp>
        <p:nvSpPr>
          <p:cNvPr id="4" name="Slide Image Placeholder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D1445-56CE-4207-8326-60D261B820AA}" type="slidenum">
              <a:rPr lang="en-SG" smtClean="0"/>
              <a:t>‹#›</a:t>
            </a:fld>
            <a:endParaRPr lang="en-SG"/>
          </a:p>
        </p:txBody>
      </p:sp>
    </p:spTree>
    <p:extLst>
      <p:ext uri="{BB962C8B-B14F-4D97-AF65-F5344CB8AC3E}">
        <p14:creationId xmlns:p14="http://schemas.microsoft.com/office/powerpoint/2010/main" val="6789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68D1445-56CE-4207-8326-60D261B820AA}" type="slidenum">
              <a:rPr lang="en-SG" smtClean="0"/>
              <a:t>1</a:t>
            </a:fld>
            <a:endParaRPr lang="en-SG"/>
          </a:p>
        </p:txBody>
      </p:sp>
    </p:spTree>
    <p:extLst>
      <p:ext uri="{BB962C8B-B14F-4D97-AF65-F5344CB8AC3E}">
        <p14:creationId xmlns:p14="http://schemas.microsoft.com/office/powerpoint/2010/main" val="154559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72953" y="4955545"/>
            <a:ext cx="16037719" cy="10541917"/>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2672953" y="15903998"/>
            <a:ext cx="16037719" cy="731064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7" y="7548971"/>
            <a:ext cx="18443377" cy="12595626"/>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1458987" y="20263756"/>
            <a:ext cx="18443377" cy="6623742"/>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060641"/>
            <a:ext cx="9088041" cy="192123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060641"/>
            <a:ext cx="9088041" cy="192123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2130"/>
            <a:ext cx="18443377" cy="585272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0" y="7422802"/>
            <a:ext cx="9046275" cy="36378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72910" y="11060602"/>
            <a:ext cx="9046275" cy="16268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0" y="7422802"/>
            <a:ext cx="9090826" cy="36378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0825460" y="11060602"/>
            <a:ext cx="9090826" cy="16268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10" y="2018665"/>
            <a:ext cx="6896775" cy="7065328"/>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9090826" y="4359758"/>
            <a:ext cx="10825460" cy="2151840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10" y="9083992"/>
            <a:ext cx="6896775" cy="168292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10" y="2018665"/>
            <a:ext cx="6896775" cy="7065328"/>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59758"/>
            <a:ext cx="10825460" cy="2151840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72910" y="9083992"/>
            <a:ext cx="6896775" cy="168292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7" y="1612128"/>
            <a:ext cx="4610844" cy="25660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4" y="1612128"/>
            <a:ext cx="13565237" cy="25660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2130"/>
            <a:ext cx="18443377" cy="585272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060641"/>
            <a:ext cx="18443377" cy="192123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065053"/>
            <a:ext cx="4811316" cy="1612128"/>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6/27/2026</a:t>
            </a:fld>
            <a:endParaRPr lang="en-US"/>
          </a:p>
        </p:txBody>
      </p:sp>
      <p:sp>
        <p:nvSpPr>
          <p:cNvPr id="5" name="Footer Placeholder 4"/>
          <p:cNvSpPr>
            <a:spLocks noGrp="1"/>
          </p:cNvSpPr>
          <p:nvPr>
            <p:ph type="ftr" sz="quarter" idx="3"/>
          </p:nvPr>
        </p:nvSpPr>
        <p:spPr>
          <a:xfrm>
            <a:off x="7083326" y="28065053"/>
            <a:ext cx="7216973" cy="161212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5102185" y="28065053"/>
            <a:ext cx="4811316" cy="1612128"/>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jpg"/><Relationship Id="rId3" Type="http://schemas.openxmlformats.org/officeDocument/2006/relationships/image" Target="../media/image1.jpeg"/><Relationship Id="rId7" Type="http://schemas.openxmlformats.org/officeDocument/2006/relationships/image" Target="../media/image5.jp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g"/><Relationship Id="rId15" Type="http://schemas.openxmlformats.org/officeDocument/2006/relationships/image" Target="../media/image13.pn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jp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05431EB2-4948-89D9-043A-A68753D9A525}"/>
              </a:ext>
            </a:extLst>
          </p:cNvPr>
          <p:cNvSpPr/>
          <p:nvPr/>
        </p:nvSpPr>
        <p:spPr>
          <a:xfrm>
            <a:off x="-8107" y="6911536"/>
            <a:ext cx="21383832" cy="10744128"/>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Rectangle: Rounded Corners 28">
            <a:extLst>
              <a:ext uri="{FF2B5EF4-FFF2-40B4-BE49-F238E27FC236}">
                <a16:creationId xmlns:a16="http://schemas.microsoft.com/office/drawing/2014/main" id="{77CE9A1B-89F2-C120-56FB-44CC4A776AAD}"/>
              </a:ext>
            </a:extLst>
          </p:cNvPr>
          <p:cNvSpPr/>
          <p:nvPr/>
        </p:nvSpPr>
        <p:spPr>
          <a:xfrm>
            <a:off x="211017" y="1702716"/>
            <a:ext cx="20973574" cy="1384995"/>
          </a:xfrm>
          <a:prstGeom prst="roundRect">
            <a:avLst/>
          </a:prstGeom>
          <a:gradFill flip="none" rotWithShape="1">
            <a:gsLst>
              <a:gs pos="0">
                <a:schemeClr val="accent4">
                  <a:lumMod val="75000"/>
                  <a:tint val="66000"/>
                  <a:satMod val="160000"/>
                </a:schemeClr>
              </a:gs>
              <a:gs pos="50000">
                <a:schemeClr val="accent4">
                  <a:lumMod val="75000"/>
                  <a:tint val="44500"/>
                  <a:satMod val="160000"/>
                </a:schemeClr>
              </a:gs>
              <a:gs pos="100000">
                <a:schemeClr val="accent4">
                  <a:lumMod val="75000"/>
                  <a:tint val="23500"/>
                  <a:satMod val="160000"/>
                </a:schemeClr>
              </a:gs>
            </a:gsLst>
            <a:path path="circle">
              <a:fillToRect l="100000" t="100000"/>
            </a:path>
            <a:tileRect r="-100000" b="-100000"/>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Rectangle 1">
            <a:extLst>
              <a:ext uri="{FF2B5EF4-FFF2-40B4-BE49-F238E27FC236}">
                <a16:creationId xmlns:a16="http://schemas.microsoft.com/office/drawing/2014/main" id="{5F68D431-7CB5-10EB-E9C7-19FD97FBBA05}"/>
              </a:ext>
            </a:extLst>
          </p:cNvPr>
          <p:cNvSpPr>
            <a:spLocks noGrp="1" noRot="1" noMove="1" noResize="1" noEditPoints="1" noAdjustHandles="1" noChangeArrowheads="1" noChangeShapeType="1"/>
          </p:cNvSpPr>
          <p:nvPr/>
        </p:nvSpPr>
        <p:spPr>
          <a:xfrm>
            <a:off x="-1" y="-13468"/>
            <a:ext cx="21375727" cy="1598428"/>
          </a:xfrm>
          <a:prstGeom prst="rect">
            <a:avLst/>
          </a:prstGeom>
          <a:solidFill>
            <a:srgbClr val="1115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niversity Brand Identity | Singapore Management University (SMU)">
            <a:extLst>
              <a:ext uri="{FF2B5EF4-FFF2-40B4-BE49-F238E27FC236}">
                <a16:creationId xmlns:a16="http://schemas.microsoft.com/office/drawing/2014/main" id="{35E293AC-7E39-4A6E-3239-EF5FB10A47B3}"/>
              </a:ext>
            </a:extLst>
          </p:cNvPr>
          <p:cNvPicPr>
            <a:picLocks noGrp="1" noRot="1" noChangeAspect="1" noMove="1" noResize="1" noEditPoints="1" noAdjustHandles="1" noChangeArrowheads="1" noChangeShapeType="1" noCrop="1"/>
          </p:cNvPicPr>
          <p:nvPr/>
        </p:nvPicPr>
        <p:blipFill>
          <a:blip r:embed="rId3"/>
          <a:stretch>
            <a:fillRect/>
          </a:stretch>
        </p:blipFill>
        <p:spPr>
          <a:xfrm>
            <a:off x="-8107" y="-15240"/>
            <a:ext cx="2980752" cy="1598428"/>
          </a:xfrm>
          <a:prstGeom prst="rect">
            <a:avLst/>
          </a:prstGeom>
        </p:spPr>
      </p:pic>
      <p:sp>
        <p:nvSpPr>
          <p:cNvPr id="5" name="TextBox 4">
            <a:extLst>
              <a:ext uri="{FF2B5EF4-FFF2-40B4-BE49-F238E27FC236}">
                <a16:creationId xmlns:a16="http://schemas.microsoft.com/office/drawing/2014/main" id="{38728847-9172-1C48-5ACB-C99F4064D8D4}"/>
              </a:ext>
            </a:extLst>
          </p:cNvPr>
          <p:cNvSpPr txBox="1"/>
          <p:nvPr/>
        </p:nvSpPr>
        <p:spPr>
          <a:xfrm>
            <a:off x="3111786" y="86889"/>
            <a:ext cx="10691446" cy="923330"/>
          </a:xfrm>
          <a:prstGeom prst="rect">
            <a:avLst/>
          </a:prstGeom>
          <a:noFill/>
        </p:spPr>
        <p:txBody>
          <a:bodyPr wrap="square">
            <a:spAutoFit/>
          </a:bodyPr>
          <a:lstStyle/>
          <a:p>
            <a:r>
              <a:rPr lang="en-SG" sz="5400" b="1" i="0" dirty="0">
                <a:solidFill>
                  <a:schemeClr val="bg1"/>
                </a:solidFill>
                <a:effectLst/>
                <a:latin typeface="HYHeadLine-Medium" panose="02030600000101010101" pitchFamily="18" charset="-127"/>
                <a:ea typeface="HYHeadLine-Medium" panose="02030600000101010101" pitchFamily="18" charset="-127"/>
              </a:rPr>
              <a:t>CSM </a:t>
            </a:r>
            <a:r>
              <a:rPr lang="en-SG" sz="5400" b="1" i="0" dirty="0" err="1">
                <a:solidFill>
                  <a:schemeClr val="bg1"/>
                </a:solidFill>
                <a:effectLst/>
                <a:latin typeface="HYHeadLine-Medium" panose="02030600000101010101" pitchFamily="18" charset="-127"/>
                <a:ea typeface="HYHeadLine-Medium" panose="02030600000101010101" pitchFamily="18" charset="-127"/>
              </a:rPr>
              <a:t>TraceForce</a:t>
            </a:r>
            <a:endParaRPr lang="en-SG" sz="5400" dirty="0">
              <a:solidFill>
                <a:schemeClr val="bg1"/>
              </a:solidFill>
              <a:latin typeface="HYHeadLine-Medium" panose="02030600000101010101" pitchFamily="18" charset="-127"/>
              <a:ea typeface="HYHeadLine-Medium" panose="02030600000101010101" pitchFamily="18" charset="-127"/>
            </a:endParaRPr>
          </a:p>
        </p:txBody>
      </p:sp>
      <p:sp>
        <p:nvSpPr>
          <p:cNvPr id="7" name="TextBox 6">
            <a:extLst>
              <a:ext uri="{FF2B5EF4-FFF2-40B4-BE49-F238E27FC236}">
                <a16:creationId xmlns:a16="http://schemas.microsoft.com/office/drawing/2014/main" id="{39353B6E-2EA7-4738-3E63-A52C8B108712}"/>
              </a:ext>
            </a:extLst>
          </p:cNvPr>
          <p:cNvSpPr txBox="1"/>
          <p:nvPr/>
        </p:nvSpPr>
        <p:spPr>
          <a:xfrm>
            <a:off x="3171165" y="1010219"/>
            <a:ext cx="10695008" cy="461665"/>
          </a:xfrm>
          <a:prstGeom prst="rect">
            <a:avLst/>
          </a:prstGeom>
          <a:noFill/>
        </p:spPr>
        <p:txBody>
          <a:bodyPr wrap="square">
            <a:spAutoFit/>
          </a:bodyPr>
          <a:lstStyle/>
          <a:p>
            <a:r>
              <a:rPr lang="en-SG" sz="2400" b="0" i="1" dirty="0">
                <a:solidFill>
                  <a:schemeClr val="bg1"/>
                </a:solidFill>
                <a:effectLst/>
              </a:rPr>
              <a:t>Detecting Embargo Breach in a Multi-Agent AI Communication Network</a:t>
            </a:r>
            <a:endParaRPr lang="en-SG" sz="2400" dirty="0">
              <a:solidFill>
                <a:schemeClr val="bg1"/>
              </a:solidFill>
            </a:endParaRPr>
          </a:p>
        </p:txBody>
      </p:sp>
      <p:cxnSp>
        <p:nvCxnSpPr>
          <p:cNvPr id="9" name="Straight Connector 8">
            <a:extLst>
              <a:ext uri="{FF2B5EF4-FFF2-40B4-BE49-F238E27FC236}">
                <a16:creationId xmlns:a16="http://schemas.microsoft.com/office/drawing/2014/main" id="{A263AC0A-AD40-A874-A870-9FDDAA0C44BF}"/>
              </a:ext>
            </a:extLst>
          </p:cNvPr>
          <p:cNvCxnSpPr/>
          <p:nvPr/>
        </p:nvCxnSpPr>
        <p:spPr>
          <a:xfrm>
            <a:off x="12811760" y="86889"/>
            <a:ext cx="0" cy="138499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DF436CD-5984-E9A5-5F55-20863C427E09}"/>
              </a:ext>
            </a:extLst>
          </p:cNvPr>
          <p:cNvSpPr txBox="1"/>
          <p:nvPr/>
        </p:nvSpPr>
        <p:spPr>
          <a:xfrm>
            <a:off x="10486111" y="179221"/>
            <a:ext cx="10698480" cy="1200329"/>
          </a:xfrm>
          <a:prstGeom prst="rect">
            <a:avLst/>
          </a:prstGeom>
          <a:noFill/>
        </p:spPr>
        <p:txBody>
          <a:bodyPr wrap="square">
            <a:spAutoFit/>
          </a:bodyPr>
          <a:lstStyle/>
          <a:p>
            <a:pPr algn="r">
              <a:buNone/>
            </a:pPr>
            <a:r>
              <a:rPr lang="en-SG" sz="2400" b="0" i="0" dirty="0">
                <a:solidFill>
                  <a:schemeClr val="bg1"/>
                </a:solidFill>
                <a:effectLst/>
              </a:rPr>
              <a:t>Carina Faith Peh Xin Yi</a:t>
            </a:r>
            <a:endParaRPr lang="en-SG" sz="2400" dirty="0">
              <a:solidFill>
                <a:schemeClr val="bg1"/>
              </a:solidFill>
              <a:effectLst/>
            </a:endParaRPr>
          </a:p>
          <a:p>
            <a:pPr algn="r">
              <a:buNone/>
            </a:pPr>
            <a:r>
              <a:rPr lang="en-SG" sz="2400" b="0" i="0" dirty="0">
                <a:solidFill>
                  <a:schemeClr val="bg1"/>
                </a:solidFill>
                <a:effectLst/>
              </a:rPr>
              <a:t>Mark Yee Wei Cong</a:t>
            </a:r>
            <a:endParaRPr lang="en-SG" sz="2400" dirty="0">
              <a:solidFill>
                <a:schemeClr val="bg1"/>
              </a:solidFill>
              <a:effectLst/>
            </a:endParaRPr>
          </a:p>
          <a:p>
            <a:pPr algn="r">
              <a:buNone/>
            </a:pPr>
            <a:r>
              <a:rPr lang="en-SG" sz="2400" b="0" i="0" dirty="0">
                <a:solidFill>
                  <a:schemeClr val="bg1"/>
                </a:solidFill>
                <a:effectLst/>
              </a:rPr>
              <a:t>Serene Cheng </a:t>
            </a:r>
            <a:endParaRPr lang="en-SG" sz="2400" dirty="0">
              <a:solidFill>
                <a:schemeClr val="bg1"/>
              </a:solidFill>
              <a:effectLst/>
            </a:endParaRPr>
          </a:p>
        </p:txBody>
      </p:sp>
      <p:sp>
        <p:nvSpPr>
          <p:cNvPr id="12" name="Rectangle: Rounded Corners 11">
            <a:extLst>
              <a:ext uri="{FF2B5EF4-FFF2-40B4-BE49-F238E27FC236}">
                <a16:creationId xmlns:a16="http://schemas.microsoft.com/office/drawing/2014/main" id="{A785CECC-4187-0FBE-D48F-00424EE41E47}"/>
              </a:ext>
            </a:extLst>
          </p:cNvPr>
          <p:cNvSpPr>
            <a:spLocks/>
          </p:cNvSpPr>
          <p:nvPr/>
        </p:nvSpPr>
        <p:spPr>
          <a:xfrm>
            <a:off x="211016" y="3210201"/>
            <a:ext cx="20973575" cy="3655999"/>
          </a:xfrm>
          <a:prstGeom prst="roundRect">
            <a:avLst/>
          </a:prstGeom>
          <a:gradFill flip="none" rotWithShape="1">
            <a:gsLst>
              <a:gs pos="1900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 name="Rectangle 13">
            <a:extLst>
              <a:ext uri="{FF2B5EF4-FFF2-40B4-BE49-F238E27FC236}">
                <a16:creationId xmlns:a16="http://schemas.microsoft.com/office/drawing/2014/main" id="{F7702865-AFCA-0492-BB0B-BAD24D7A0881}"/>
              </a:ext>
            </a:extLst>
          </p:cNvPr>
          <p:cNvSpPr/>
          <p:nvPr/>
        </p:nvSpPr>
        <p:spPr>
          <a:xfrm>
            <a:off x="542000" y="2006428"/>
            <a:ext cx="3288320" cy="769441"/>
          </a:xfrm>
          <a:prstGeom prst="rect">
            <a:avLst/>
          </a:prstGeom>
          <a:noFill/>
        </p:spPr>
        <p:txBody>
          <a:bodyPr wrap="square" lIns="91440" tIns="45720" rIns="91440" bIns="45720">
            <a:spAutoFit/>
          </a:bodyPr>
          <a:lstStyle/>
          <a:p>
            <a:pPr algn="ctr"/>
            <a:r>
              <a:rPr lang="en-SG" sz="44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Intro duction</a:t>
            </a:r>
            <a:endParaRPr lang="en-SG" sz="4800" b="1" dirty="0">
              <a:ln w="0"/>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268441B6-0A17-F615-7B38-95E843D333F4}"/>
              </a:ext>
            </a:extLst>
          </p:cNvPr>
          <p:cNvSpPr txBox="1"/>
          <p:nvPr/>
        </p:nvSpPr>
        <p:spPr>
          <a:xfrm>
            <a:off x="3830320" y="1778576"/>
            <a:ext cx="17130542" cy="1323439"/>
          </a:xfrm>
          <a:prstGeom prst="rect">
            <a:avLst/>
          </a:prstGeom>
          <a:noFill/>
        </p:spPr>
        <p:txBody>
          <a:bodyPr wrap="square">
            <a:spAutoFit/>
          </a:bodyPr>
          <a:lstStyle/>
          <a:p>
            <a:pPr algn="just"/>
            <a:r>
              <a:rPr lang="en-SG" sz="2000" dirty="0">
                <a:latin typeface="Abadi" panose="020B0604020104020204" pitchFamily="34" charset="0"/>
              </a:rPr>
              <a:t>This study examines a </a:t>
            </a:r>
            <a:r>
              <a:rPr lang="en-SG" sz="2000" b="1" dirty="0">
                <a:latin typeface="Abadi" panose="020B0604020104020204" pitchFamily="34" charset="0"/>
              </a:rPr>
              <a:t>multi-agent crisis </a:t>
            </a:r>
            <a:r>
              <a:rPr lang="en-SG" sz="2000" dirty="0">
                <a:latin typeface="Abadi" panose="020B0604020104020204" pitchFamily="34" charset="0"/>
              </a:rPr>
              <a:t>which seven </a:t>
            </a:r>
            <a:r>
              <a:rPr lang="en-SG" sz="2000" b="1" dirty="0">
                <a:latin typeface="Abadi" panose="020B0604020104020204" pitchFamily="34" charset="0"/>
              </a:rPr>
              <a:t>AI</a:t>
            </a:r>
            <a:r>
              <a:rPr lang="en-SG" sz="2000" dirty="0">
                <a:latin typeface="Abadi" panose="020B0604020104020204" pitchFamily="34" charset="0"/>
              </a:rPr>
              <a:t> </a:t>
            </a:r>
            <a:r>
              <a:rPr lang="en-SG" sz="2000" b="1" dirty="0">
                <a:latin typeface="Abadi" panose="020B0604020104020204" pitchFamily="34" charset="0"/>
              </a:rPr>
              <a:t>(artificial intelligence) agents </a:t>
            </a:r>
            <a:r>
              <a:rPr lang="en-SG" sz="2000" dirty="0">
                <a:latin typeface="Abadi" panose="020B0604020104020204" pitchFamily="34" charset="0"/>
              </a:rPr>
              <a:t>representing the property-tech firm </a:t>
            </a:r>
            <a:r>
              <a:rPr lang="en-SG" sz="2000" dirty="0" err="1">
                <a:latin typeface="Abadi" panose="020B0604020104020204" pitchFamily="34" charset="0"/>
              </a:rPr>
              <a:t>TenantThread</a:t>
            </a:r>
            <a:r>
              <a:rPr lang="en-SG" sz="2000" dirty="0">
                <a:latin typeface="Abadi" panose="020B0604020104020204" pitchFamily="34" charset="0"/>
              </a:rPr>
              <a:t> manage a </a:t>
            </a:r>
            <a:r>
              <a:rPr lang="en-SG" sz="2000" b="1" dirty="0">
                <a:latin typeface="Abadi" panose="020B0604020104020204" pitchFamily="34" charset="0"/>
              </a:rPr>
              <a:t>confidential merger</a:t>
            </a:r>
            <a:r>
              <a:rPr lang="en-SG" sz="2000" dirty="0">
                <a:latin typeface="Abadi" panose="020B0604020104020204" pitchFamily="34" charset="0"/>
              </a:rPr>
              <a:t> with </a:t>
            </a:r>
            <a:r>
              <a:rPr lang="en-SG" sz="2000" dirty="0" err="1">
                <a:latin typeface="Abadi" panose="020B0604020104020204" pitchFamily="34" charset="0"/>
              </a:rPr>
              <a:t>CivicLoom</a:t>
            </a:r>
            <a:r>
              <a:rPr lang="en-SG" sz="2000" dirty="0">
                <a:latin typeface="Abadi" panose="020B0604020104020204" pitchFamily="34" charset="0"/>
              </a:rPr>
              <a:t> ("Project </a:t>
            </a:r>
            <a:r>
              <a:rPr lang="en-SG" sz="2000" dirty="0" err="1">
                <a:latin typeface="Abadi" panose="020B0604020104020204" pitchFamily="34" charset="0"/>
              </a:rPr>
              <a:t>HarborCrest</a:t>
            </a:r>
            <a:r>
              <a:rPr lang="en-SG" sz="2000" dirty="0">
                <a:latin typeface="Abadi" panose="020B0604020104020204" pitchFamily="34" charset="0"/>
              </a:rPr>
              <a:t>"), </a:t>
            </a:r>
            <a:r>
              <a:rPr lang="en-SG" sz="2000" b="1" dirty="0">
                <a:latin typeface="Abadi" panose="020B0604020104020204" pitchFamily="34" charset="0"/>
              </a:rPr>
              <a:t>embargoed</a:t>
            </a:r>
            <a:r>
              <a:rPr lang="en-SG" sz="2000" dirty="0">
                <a:latin typeface="Abadi" panose="020B0604020104020204" pitchFamily="34" charset="0"/>
              </a:rPr>
              <a:t> until 6:00 PM on round 23.</a:t>
            </a:r>
          </a:p>
          <a:p>
            <a:pPr algn="just"/>
            <a:r>
              <a:rPr lang="en-SG" sz="2000" dirty="0">
                <a:latin typeface="Abadi" panose="020B0604020104020204" pitchFamily="34" charset="0"/>
              </a:rPr>
              <a:t>Compliance oversight, handled by a "Judge" agent, covers only two of six communication channels. The central problem is whether the breach can be attributed to a specific agent, channel, and round before the embargo lifts, and why partial monitoring failed to detect it.</a:t>
            </a:r>
          </a:p>
        </p:txBody>
      </p:sp>
      <p:pic>
        <p:nvPicPr>
          <p:cNvPr id="33" name="Picture 32">
            <a:extLst>
              <a:ext uri="{FF2B5EF4-FFF2-40B4-BE49-F238E27FC236}">
                <a16:creationId xmlns:a16="http://schemas.microsoft.com/office/drawing/2014/main" id="{BFEE3376-12C9-56F2-8BFD-F7D91486D32E}"/>
              </a:ext>
            </a:extLst>
          </p:cNvPr>
          <p:cNvPicPr>
            <a:picLocks noChangeAspect="1"/>
          </p:cNvPicPr>
          <p:nvPr/>
        </p:nvPicPr>
        <p:blipFill>
          <a:blip r:embed="rId4"/>
          <a:stretch>
            <a:fillRect/>
          </a:stretch>
        </p:blipFill>
        <p:spPr>
          <a:xfrm rot="19905503" flipH="1">
            <a:off x="-688098" y="1674151"/>
            <a:ext cx="3118424" cy="3118424"/>
          </a:xfrm>
          <a:prstGeom prst="rect">
            <a:avLst/>
          </a:prstGeom>
        </p:spPr>
      </p:pic>
      <p:sp>
        <p:nvSpPr>
          <p:cNvPr id="34" name="Rectangle 33">
            <a:extLst>
              <a:ext uri="{FF2B5EF4-FFF2-40B4-BE49-F238E27FC236}">
                <a16:creationId xmlns:a16="http://schemas.microsoft.com/office/drawing/2014/main" id="{92CBE020-77D3-6EAC-8DE6-9BAFBB6F8DAE}"/>
              </a:ext>
            </a:extLst>
          </p:cNvPr>
          <p:cNvSpPr/>
          <p:nvPr/>
        </p:nvSpPr>
        <p:spPr>
          <a:xfrm>
            <a:off x="3636378" y="3114184"/>
            <a:ext cx="3304303" cy="769441"/>
          </a:xfrm>
          <a:prstGeom prst="rect">
            <a:avLst/>
          </a:prstGeom>
          <a:noFill/>
        </p:spPr>
        <p:txBody>
          <a:bodyPr wrap="none" lIns="91440" tIns="45720" rIns="91440" bIns="45720">
            <a:spAutoFit/>
          </a:bodyPr>
          <a:lstStyle/>
          <a:p>
            <a:pPr algn="ctr"/>
            <a:r>
              <a:rPr lang="en-US" sz="44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MOTIVATION</a:t>
            </a:r>
          </a:p>
        </p:txBody>
      </p:sp>
      <p:sp>
        <p:nvSpPr>
          <p:cNvPr id="40" name="TextBox 39">
            <a:extLst>
              <a:ext uri="{FF2B5EF4-FFF2-40B4-BE49-F238E27FC236}">
                <a16:creationId xmlns:a16="http://schemas.microsoft.com/office/drawing/2014/main" id="{B56BF87C-8EBF-E5AB-F0C6-A20AB261ADC9}"/>
              </a:ext>
            </a:extLst>
          </p:cNvPr>
          <p:cNvSpPr txBox="1"/>
          <p:nvPr/>
        </p:nvSpPr>
        <p:spPr>
          <a:xfrm>
            <a:off x="954056" y="3746083"/>
            <a:ext cx="9000708" cy="3046988"/>
          </a:xfrm>
          <a:prstGeom prst="rect">
            <a:avLst/>
          </a:prstGeom>
          <a:noFill/>
        </p:spPr>
        <p:txBody>
          <a:bodyPr wrap="square">
            <a:spAutoFit/>
          </a:bodyPr>
          <a:lstStyle/>
          <a:p>
            <a:pPr marL="342900" indent="-342900" algn="just">
              <a:buFont typeface="Arial" panose="020B0604020202020204" pitchFamily="34" charset="0"/>
              <a:buChar char="•"/>
            </a:pPr>
            <a:r>
              <a:rPr lang="en-SG" sz="2400" b="1" dirty="0">
                <a:latin typeface="Abadi" panose="020B0604020104020204" pitchFamily="34" charset="0"/>
              </a:rPr>
              <a:t>Tests whether partial compliance monitoring can be trusted</a:t>
            </a:r>
            <a:r>
              <a:rPr lang="en-SG" sz="2400" dirty="0">
                <a:latin typeface="Abadi" panose="020B0604020104020204" pitchFamily="34" charset="0"/>
              </a:rPr>
              <a:t>: the Judge watches only part of the system, and the leak went through the channels it cannot see </a:t>
            </a:r>
          </a:p>
          <a:p>
            <a:pPr marL="342900" indent="-342900" algn="just">
              <a:buFont typeface="Arial" panose="020B0604020202020204" pitchFamily="34" charset="0"/>
              <a:buChar char="•"/>
            </a:pPr>
            <a:r>
              <a:rPr lang="en-SG" sz="2400" b="1" dirty="0">
                <a:latin typeface="Abadi" panose="020B0604020104020204" pitchFamily="34" charset="0"/>
              </a:rPr>
              <a:t>A gap common in real compliance systems </a:t>
            </a:r>
          </a:p>
          <a:p>
            <a:pPr marL="342900" indent="-342900" algn="just">
              <a:buFont typeface="Arial" panose="020B0604020202020204" pitchFamily="34" charset="0"/>
              <a:buChar char="•"/>
            </a:pPr>
            <a:r>
              <a:rPr lang="en-SG" sz="2400" b="1" dirty="0">
                <a:latin typeface="Abadi" panose="020B0604020104020204" pitchFamily="34" charset="0"/>
              </a:rPr>
              <a:t>Breach was unprecedented</a:t>
            </a:r>
            <a:r>
              <a:rPr lang="en-SG" sz="2400" dirty="0">
                <a:latin typeface="Abadi" panose="020B0604020104020204" pitchFamily="34" charset="0"/>
              </a:rPr>
              <a:t>, with no past pattern to flag it </a:t>
            </a:r>
          </a:p>
          <a:p>
            <a:pPr marL="342900" indent="-342900" algn="just">
              <a:buFont typeface="Arial" panose="020B0604020202020204" pitchFamily="34" charset="0"/>
              <a:buChar char="•"/>
            </a:pPr>
            <a:r>
              <a:rPr lang="en-SG" sz="2400" dirty="0">
                <a:latin typeface="Abadi" panose="020B0604020104020204" pitchFamily="34" charset="0"/>
              </a:rPr>
              <a:t>Deliberate vs. accidental cannot be read off the leaked message alone. Must be inferred from agent behaviour, network structure, and message content over the two weeks before the release</a:t>
            </a:r>
          </a:p>
        </p:txBody>
      </p:sp>
      <p:cxnSp>
        <p:nvCxnSpPr>
          <p:cNvPr id="42" name="Straight Connector 41">
            <a:extLst>
              <a:ext uri="{FF2B5EF4-FFF2-40B4-BE49-F238E27FC236}">
                <a16:creationId xmlns:a16="http://schemas.microsoft.com/office/drawing/2014/main" id="{97F288F7-D86C-39ED-F423-230FA626393D}"/>
              </a:ext>
            </a:extLst>
          </p:cNvPr>
          <p:cNvCxnSpPr>
            <a:cxnSpLocks/>
            <a:endCxn id="12" idx="2"/>
          </p:cNvCxnSpPr>
          <p:nvPr/>
        </p:nvCxnSpPr>
        <p:spPr>
          <a:xfrm flipH="1">
            <a:off x="10697804" y="3218407"/>
            <a:ext cx="11045" cy="3647793"/>
          </a:xfrm>
          <a:prstGeom prst="line">
            <a:avLst/>
          </a:prstGeom>
          <a:ln w="28575"/>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BD0A92FE-AC05-5EF4-AF15-CACA8A9E503A}"/>
              </a:ext>
            </a:extLst>
          </p:cNvPr>
          <p:cNvSpPr txBox="1"/>
          <p:nvPr/>
        </p:nvSpPr>
        <p:spPr>
          <a:xfrm>
            <a:off x="10486111" y="3117023"/>
            <a:ext cx="11312768"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APPROACH</a:t>
            </a:r>
          </a:p>
        </p:txBody>
      </p:sp>
      <p:sp>
        <p:nvSpPr>
          <p:cNvPr id="47" name="TextBox 46">
            <a:extLst>
              <a:ext uri="{FF2B5EF4-FFF2-40B4-BE49-F238E27FC236}">
                <a16:creationId xmlns:a16="http://schemas.microsoft.com/office/drawing/2014/main" id="{D4FA83CA-2916-2158-8F08-1F173ED1D9DE}"/>
              </a:ext>
            </a:extLst>
          </p:cNvPr>
          <p:cNvSpPr txBox="1"/>
          <p:nvPr/>
        </p:nvSpPr>
        <p:spPr>
          <a:xfrm>
            <a:off x="12385109" y="4976626"/>
            <a:ext cx="6507575" cy="1631216"/>
          </a:xfrm>
          <a:prstGeom prst="rect">
            <a:avLst/>
          </a:prstGeom>
          <a:noFill/>
        </p:spPr>
        <p:txBody>
          <a:bodyPr wrap="square">
            <a:spAutoFit/>
          </a:bodyPr>
          <a:lstStyle/>
          <a:p>
            <a:pPr marL="457200" indent="-457200">
              <a:buFont typeface="+mj-lt"/>
              <a:buAutoNum type="arabicPeriod"/>
            </a:pPr>
            <a:r>
              <a:rPr lang="en-SG" sz="2000" dirty="0">
                <a:latin typeface="Abadi" panose="020B0604020104020204" pitchFamily="34" charset="0"/>
              </a:rPr>
              <a:t>Behavioural deviation analysis</a:t>
            </a:r>
          </a:p>
          <a:p>
            <a:pPr marL="457200" indent="-457200">
              <a:buFont typeface="+mj-lt"/>
              <a:buAutoNum type="arabicPeriod"/>
            </a:pPr>
            <a:r>
              <a:rPr lang="en-SG" sz="2000" dirty="0">
                <a:latin typeface="Abadi" panose="020B0604020104020204" pitchFamily="34" charset="0"/>
              </a:rPr>
              <a:t>Network analysis and visualization</a:t>
            </a:r>
          </a:p>
          <a:p>
            <a:pPr marL="457200" indent="-457200">
              <a:buFont typeface="+mj-lt"/>
              <a:buAutoNum type="arabicPeriod"/>
            </a:pPr>
            <a:r>
              <a:rPr lang="en-SG" sz="2000" dirty="0">
                <a:latin typeface="Abadi" panose="020B0604020104020204" pitchFamily="34" charset="0"/>
              </a:rPr>
              <a:t>Round-level signal tracking</a:t>
            </a:r>
          </a:p>
          <a:p>
            <a:pPr marL="457200" indent="-457200">
              <a:buFont typeface="+mj-lt"/>
              <a:buAutoNum type="arabicPeriod"/>
            </a:pPr>
            <a:r>
              <a:rPr lang="en-SG" sz="2000" dirty="0">
                <a:latin typeface="Abadi" panose="020B0604020104020204" pitchFamily="34" charset="0"/>
              </a:rPr>
              <a:t>Bypass-channel lens</a:t>
            </a:r>
          </a:p>
          <a:p>
            <a:pPr marL="457200" indent="-457200">
              <a:buFont typeface="+mj-lt"/>
              <a:buAutoNum type="arabicPeriod"/>
            </a:pPr>
            <a:r>
              <a:rPr lang="en-SG" sz="2000" dirty="0">
                <a:latin typeface="Abadi" panose="020B0604020104020204" pitchFamily="34" charset="0"/>
              </a:rPr>
              <a:t>Text/keyword scanning</a:t>
            </a:r>
          </a:p>
        </p:txBody>
      </p:sp>
      <p:sp>
        <p:nvSpPr>
          <p:cNvPr id="54" name="TextBox 53">
            <a:extLst>
              <a:ext uri="{FF2B5EF4-FFF2-40B4-BE49-F238E27FC236}">
                <a16:creationId xmlns:a16="http://schemas.microsoft.com/office/drawing/2014/main" id="{52D412A7-102B-A511-00AA-8378DA8F4361}"/>
              </a:ext>
            </a:extLst>
          </p:cNvPr>
          <p:cNvSpPr txBox="1"/>
          <p:nvPr/>
        </p:nvSpPr>
        <p:spPr>
          <a:xfrm>
            <a:off x="10920542" y="3669762"/>
            <a:ext cx="10058151" cy="1200329"/>
          </a:xfrm>
          <a:prstGeom prst="rect">
            <a:avLst/>
          </a:prstGeom>
          <a:noFill/>
        </p:spPr>
        <p:txBody>
          <a:bodyPr wrap="square" rtlCol="0">
            <a:spAutoFit/>
          </a:bodyPr>
          <a:lstStyle/>
          <a:p>
            <a:r>
              <a:rPr lang="en-SG" sz="2400" dirty="0">
                <a:latin typeface="Abadi" panose="020B0604020104020204" pitchFamily="34" charset="0"/>
              </a:rPr>
              <a:t>This project was prepared using R, with Quarto for the website and an R Shiny dashboard for the investigation application. The following features were developed on Shiny App for analysis. </a:t>
            </a:r>
          </a:p>
        </p:txBody>
      </p:sp>
      <p:sp>
        <p:nvSpPr>
          <p:cNvPr id="67" name="Rectangle 66">
            <a:extLst>
              <a:ext uri="{FF2B5EF4-FFF2-40B4-BE49-F238E27FC236}">
                <a16:creationId xmlns:a16="http://schemas.microsoft.com/office/drawing/2014/main" id="{EB504685-56D7-23DB-8A39-81918A0EECDB}"/>
              </a:ext>
            </a:extLst>
          </p:cNvPr>
          <p:cNvSpPr/>
          <p:nvPr/>
        </p:nvSpPr>
        <p:spPr>
          <a:xfrm>
            <a:off x="125476" y="7042238"/>
            <a:ext cx="10269029" cy="769441"/>
          </a:xfrm>
          <a:prstGeom prst="rect">
            <a:avLst/>
          </a:prstGeom>
          <a:noFill/>
        </p:spPr>
        <p:txBody>
          <a:bodyPr wrap="none" lIns="91440" tIns="45720" rIns="91440" bIns="45720">
            <a:spAutoFit/>
          </a:bodyPr>
          <a:lstStyle/>
          <a:p>
            <a:pPr algn="ctr">
              <a:defRPr/>
            </a:pPr>
            <a:r>
              <a:rPr lang="en-US" sz="44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THE SHINY INVESTIGATION APPLICATION</a:t>
            </a:r>
          </a:p>
        </p:txBody>
      </p:sp>
      <p:pic>
        <p:nvPicPr>
          <p:cNvPr id="71" name="Picture 70">
            <a:extLst>
              <a:ext uri="{FF2B5EF4-FFF2-40B4-BE49-F238E27FC236}">
                <a16:creationId xmlns:a16="http://schemas.microsoft.com/office/drawing/2014/main" id="{03F36C7D-1DD0-B8F4-9EA3-73A8A43791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053" y="7784293"/>
            <a:ext cx="7047520" cy="3860203"/>
          </a:xfrm>
          <a:prstGeom prst="rect">
            <a:avLst/>
          </a:prstGeom>
          <a:effectLst>
            <a:outerShdw blurRad="76200" dir="18900000" sy="23000" kx="-1200000" algn="bl" rotWithShape="0">
              <a:prstClr val="black">
                <a:alpha val="20000"/>
              </a:prstClr>
            </a:outerShdw>
          </a:effectLst>
        </p:spPr>
      </p:pic>
      <p:sp>
        <p:nvSpPr>
          <p:cNvPr id="77" name="TextBox 76">
            <a:extLst>
              <a:ext uri="{FF2B5EF4-FFF2-40B4-BE49-F238E27FC236}">
                <a16:creationId xmlns:a16="http://schemas.microsoft.com/office/drawing/2014/main" id="{696C77F1-1024-4796-D415-B9D205E3604D}"/>
              </a:ext>
            </a:extLst>
          </p:cNvPr>
          <p:cNvSpPr txBox="1"/>
          <p:nvPr/>
        </p:nvSpPr>
        <p:spPr>
          <a:xfrm>
            <a:off x="97053" y="11644496"/>
            <a:ext cx="6940355" cy="1138773"/>
          </a:xfrm>
          <a:prstGeom prst="rect">
            <a:avLst/>
          </a:prstGeom>
          <a:noFill/>
        </p:spPr>
        <p:txBody>
          <a:bodyPr wrap="square" rtlCol="0">
            <a:spAutoFit/>
          </a:bodyPr>
          <a:lstStyle/>
          <a:p>
            <a:pPr algn="just"/>
            <a:r>
              <a:rPr lang="en-SG" sz="2800" b="1" dirty="0">
                <a:latin typeface="Abadi" panose="020B0604020104020204" pitchFamily="34" charset="0"/>
              </a:rPr>
              <a:t>1. The Case Board</a:t>
            </a:r>
            <a:r>
              <a:rPr lang="en-SG" sz="2800" dirty="0">
                <a:latin typeface="Abadi" panose="020B0604020104020204" pitchFamily="34" charset="0"/>
              </a:rPr>
              <a:t>: </a:t>
            </a:r>
            <a:r>
              <a:rPr lang="en-SG" sz="2000" dirty="0">
                <a:latin typeface="Abadi" panose="020B0604020104020204" pitchFamily="34" charset="0"/>
              </a:rPr>
              <a:t>Overview dashboard. Scores each round on the four signals and is where the user set the analysis settings that every other tab reads.</a:t>
            </a:r>
          </a:p>
        </p:txBody>
      </p:sp>
      <p:pic>
        <p:nvPicPr>
          <p:cNvPr id="81" name="Picture 80">
            <a:extLst>
              <a:ext uri="{FF2B5EF4-FFF2-40B4-BE49-F238E27FC236}">
                <a16:creationId xmlns:a16="http://schemas.microsoft.com/office/drawing/2014/main" id="{47E9FB10-5C5B-DF92-175F-201D684A6E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91533" y="7784293"/>
            <a:ext cx="7047520" cy="3860203"/>
          </a:xfrm>
          <a:prstGeom prst="rect">
            <a:avLst/>
          </a:prstGeom>
          <a:effectLst>
            <a:outerShdw blurRad="76200" dir="18900000" sy="23000" kx="-1200000" algn="bl" rotWithShape="0">
              <a:prstClr val="black">
                <a:alpha val="20000"/>
              </a:prstClr>
            </a:outerShdw>
          </a:effectLst>
        </p:spPr>
      </p:pic>
      <p:sp>
        <p:nvSpPr>
          <p:cNvPr id="84" name="TextBox 83">
            <a:extLst>
              <a:ext uri="{FF2B5EF4-FFF2-40B4-BE49-F238E27FC236}">
                <a16:creationId xmlns:a16="http://schemas.microsoft.com/office/drawing/2014/main" id="{06B8B58A-7C67-9B44-B1A0-43D0DB0976C3}"/>
              </a:ext>
            </a:extLst>
          </p:cNvPr>
          <p:cNvSpPr txBox="1"/>
          <p:nvPr/>
        </p:nvSpPr>
        <p:spPr>
          <a:xfrm>
            <a:off x="7168052" y="11650332"/>
            <a:ext cx="7047520" cy="830997"/>
          </a:xfrm>
          <a:prstGeom prst="rect">
            <a:avLst/>
          </a:prstGeom>
          <a:noFill/>
        </p:spPr>
        <p:txBody>
          <a:bodyPr wrap="square">
            <a:spAutoFit/>
          </a:bodyPr>
          <a:lstStyle/>
          <a:p>
            <a:pPr algn="just"/>
            <a:r>
              <a:rPr lang="en-SG" sz="2800" b="1" dirty="0">
                <a:latin typeface="Abadi" panose="020B0604020104020204" pitchFamily="34" charset="0"/>
              </a:rPr>
              <a:t>2. Behaviour</a:t>
            </a:r>
            <a:r>
              <a:rPr lang="en-SG" sz="2800" dirty="0">
                <a:latin typeface="Abadi" panose="020B0604020104020204" pitchFamily="34" charset="0"/>
              </a:rPr>
              <a:t>: </a:t>
            </a:r>
            <a:r>
              <a:rPr lang="en-SG" sz="2000" dirty="0">
                <a:latin typeface="Abadi" panose="020B0604020104020204" pitchFamily="34" charset="0"/>
              </a:rPr>
              <a:t>Shows channel drift, where an agent uses a channel far more or far less than it normally does</a:t>
            </a:r>
          </a:p>
        </p:txBody>
      </p:sp>
      <p:pic>
        <p:nvPicPr>
          <p:cNvPr id="86" name="Picture 85">
            <a:extLst>
              <a:ext uri="{FF2B5EF4-FFF2-40B4-BE49-F238E27FC236}">
                <a16:creationId xmlns:a16="http://schemas.microsoft.com/office/drawing/2014/main" id="{D0E261F0-93CD-A0D8-FD36-CFBC335B81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90891" y="7776816"/>
            <a:ext cx="6893700" cy="3860202"/>
          </a:xfrm>
          <a:prstGeom prst="rect">
            <a:avLst/>
          </a:prstGeom>
          <a:effectLst>
            <a:outerShdw blurRad="76200" dir="18900000" sy="23000" kx="-1200000" algn="bl" rotWithShape="0">
              <a:prstClr val="black">
                <a:alpha val="20000"/>
              </a:prstClr>
            </a:outerShdw>
          </a:effectLst>
        </p:spPr>
      </p:pic>
      <p:sp>
        <p:nvSpPr>
          <p:cNvPr id="88" name="TextBox 87">
            <a:extLst>
              <a:ext uri="{FF2B5EF4-FFF2-40B4-BE49-F238E27FC236}">
                <a16:creationId xmlns:a16="http://schemas.microsoft.com/office/drawing/2014/main" id="{22688A06-5B65-83FF-1879-7AA43D301543}"/>
              </a:ext>
            </a:extLst>
          </p:cNvPr>
          <p:cNvSpPr txBox="1"/>
          <p:nvPr/>
        </p:nvSpPr>
        <p:spPr>
          <a:xfrm>
            <a:off x="14205043" y="11687107"/>
            <a:ext cx="7047520" cy="830997"/>
          </a:xfrm>
          <a:prstGeom prst="rect">
            <a:avLst/>
          </a:prstGeom>
          <a:noFill/>
        </p:spPr>
        <p:txBody>
          <a:bodyPr wrap="square">
            <a:spAutoFit/>
          </a:bodyPr>
          <a:lstStyle/>
          <a:p>
            <a:pPr algn="just"/>
            <a:r>
              <a:rPr lang="en-SG" sz="2800" b="1" dirty="0">
                <a:latin typeface="Abadi" panose="020B0604020104020204" pitchFamily="34" charset="0"/>
              </a:rPr>
              <a:t>3. Connections</a:t>
            </a:r>
            <a:r>
              <a:rPr lang="en-SG" sz="2800" dirty="0">
                <a:latin typeface="Abadi" panose="020B0604020104020204" pitchFamily="34" charset="0"/>
              </a:rPr>
              <a:t>: </a:t>
            </a:r>
            <a:r>
              <a:rPr lang="en-SG" sz="2000" dirty="0">
                <a:latin typeface="Abadi" panose="020B0604020104020204" pitchFamily="34" charset="0"/>
              </a:rPr>
              <a:t>shows the agent-to-agent network and how it changes between rounds</a:t>
            </a:r>
          </a:p>
        </p:txBody>
      </p:sp>
      <p:pic>
        <p:nvPicPr>
          <p:cNvPr id="90" name="Picture 89">
            <a:extLst>
              <a:ext uri="{FF2B5EF4-FFF2-40B4-BE49-F238E27FC236}">
                <a16:creationId xmlns:a16="http://schemas.microsoft.com/office/drawing/2014/main" id="{06DD43B6-AF35-7CF5-32A9-D98AEDD8CD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23047" y="12748544"/>
            <a:ext cx="8971458" cy="4256841"/>
          </a:xfrm>
          <a:prstGeom prst="rect">
            <a:avLst/>
          </a:prstGeom>
        </p:spPr>
      </p:pic>
      <p:pic>
        <p:nvPicPr>
          <p:cNvPr id="92" name="Picture 91">
            <a:extLst>
              <a:ext uri="{FF2B5EF4-FFF2-40B4-BE49-F238E27FC236}">
                <a16:creationId xmlns:a16="http://schemas.microsoft.com/office/drawing/2014/main" id="{E474AF72-77AB-D2B0-1409-6AD6FBBD9A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98084" y="12730496"/>
            <a:ext cx="8943142" cy="4256841"/>
          </a:xfrm>
          <a:prstGeom prst="rect">
            <a:avLst/>
          </a:prstGeom>
        </p:spPr>
      </p:pic>
      <p:sp>
        <p:nvSpPr>
          <p:cNvPr id="94" name="TextBox 93">
            <a:extLst>
              <a:ext uri="{FF2B5EF4-FFF2-40B4-BE49-F238E27FC236}">
                <a16:creationId xmlns:a16="http://schemas.microsoft.com/office/drawing/2014/main" id="{7673FCC4-3E08-F9BE-3ADD-B844E9D433EA}"/>
              </a:ext>
            </a:extLst>
          </p:cNvPr>
          <p:cNvSpPr txBox="1"/>
          <p:nvPr/>
        </p:nvSpPr>
        <p:spPr>
          <a:xfrm>
            <a:off x="1347784" y="16915026"/>
            <a:ext cx="8971458" cy="830997"/>
          </a:xfrm>
          <a:prstGeom prst="rect">
            <a:avLst/>
          </a:prstGeom>
          <a:noFill/>
        </p:spPr>
        <p:txBody>
          <a:bodyPr wrap="square">
            <a:spAutoFit/>
          </a:bodyPr>
          <a:lstStyle/>
          <a:p>
            <a:pPr algn="just"/>
            <a:r>
              <a:rPr lang="en-SG" sz="2800" b="1" dirty="0">
                <a:latin typeface="Abadi" panose="020B0604020104020204" pitchFamily="34" charset="0"/>
              </a:rPr>
              <a:t>4. Evidence</a:t>
            </a:r>
            <a:r>
              <a:rPr lang="en-SG" sz="2800" dirty="0">
                <a:latin typeface="Abadi" panose="020B0604020104020204" pitchFamily="34" charset="0"/>
              </a:rPr>
              <a:t>: </a:t>
            </a:r>
            <a:r>
              <a:rPr lang="en-SG" sz="2000" dirty="0">
                <a:latin typeface="Abadi" panose="020B0604020104020204" pitchFamily="34" charset="0"/>
              </a:rPr>
              <a:t>where the user read the messages, with a bypass lens for posts that reached the outside world without oversight.</a:t>
            </a:r>
          </a:p>
        </p:txBody>
      </p:sp>
      <p:sp>
        <p:nvSpPr>
          <p:cNvPr id="97" name="TextBox 96">
            <a:extLst>
              <a:ext uri="{FF2B5EF4-FFF2-40B4-BE49-F238E27FC236}">
                <a16:creationId xmlns:a16="http://schemas.microsoft.com/office/drawing/2014/main" id="{CF863A81-C92E-C96E-E5DA-9633D569E120}"/>
              </a:ext>
            </a:extLst>
          </p:cNvPr>
          <p:cNvSpPr txBox="1"/>
          <p:nvPr/>
        </p:nvSpPr>
        <p:spPr>
          <a:xfrm>
            <a:off x="10469768" y="16955302"/>
            <a:ext cx="8971458" cy="523220"/>
          </a:xfrm>
          <a:prstGeom prst="rect">
            <a:avLst/>
          </a:prstGeom>
          <a:noFill/>
        </p:spPr>
        <p:txBody>
          <a:bodyPr wrap="square">
            <a:spAutoFit/>
          </a:bodyPr>
          <a:lstStyle/>
          <a:p>
            <a:pPr algn="just"/>
            <a:r>
              <a:rPr lang="en-SG" sz="2800" b="1" dirty="0">
                <a:latin typeface="Abadi" panose="020B0604020104020204" pitchFamily="34" charset="0"/>
              </a:rPr>
              <a:t>5. Case Intake</a:t>
            </a:r>
            <a:r>
              <a:rPr lang="en-SG" sz="2800" dirty="0">
                <a:latin typeface="Abadi" panose="020B0604020104020204" pitchFamily="34" charset="0"/>
              </a:rPr>
              <a:t>: </a:t>
            </a:r>
            <a:r>
              <a:rPr lang="en-SG" sz="2000" dirty="0"/>
              <a:t>where a new dataset is loaded. Ensures reproducibility </a:t>
            </a:r>
            <a:endParaRPr lang="en-SG" sz="2000" dirty="0">
              <a:latin typeface="Abadi" panose="020B0604020104020204" pitchFamily="34" charset="0"/>
            </a:endParaRPr>
          </a:p>
        </p:txBody>
      </p:sp>
      <p:sp>
        <p:nvSpPr>
          <p:cNvPr id="103" name="Rectangle 102">
            <a:extLst>
              <a:ext uri="{FF2B5EF4-FFF2-40B4-BE49-F238E27FC236}">
                <a16:creationId xmlns:a16="http://schemas.microsoft.com/office/drawing/2014/main" id="{3744E0F8-1DC9-A309-00F6-E2022EF37342}"/>
              </a:ext>
            </a:extLst>
          </p:cNvPr>
          <p:cNvSpPr>
            <a:spLocks/>
          </p:cNvSpPr>
          <p:nvPr/>
        </p:nvSpPr>
        <p:spPr>
          <a:xfrm>
            <a:off x="-207" y="17700430"/>
            <a:ext cx="21383832" cy="1036175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SG" dirty="0">
              <a:latin typeface="Abadi" panose="020B0604020104020204" pitchFamily="34" charset="0"/>
            </a:endParaRPr>
          </a:p>
        </p:txBody>
      </p:sp>
      <p:sp>
        <p:nvSpPr>
          <p:cNvPr id="104" name="Rectangle 103">
            <a:extLst>
              <a:ext uri="{FF2B5EF4-FFF2-40B4-BE49-F238E27FC236}">
                <a16:creationId xmlns:a16="http://schemas.microsoft.com/office/drawing/2014/main" id="{9FD30E02-B139-2029-2FFB-CEEBC28BFB98}"/>
              </a:ext>
            </a:extLst>
          </p:cNvPr>
          <p:cNvSpPr>
            <a:spLocks/>
          </p:cNvSpPr>
          <p:nvPr/>
        </p:nvSpPr>
        <p:spPr>
          <a:xfrm>
            <a:off x="17093857" y="27069168"/>
            <a:ext cx="4229043" cy="1200329"/>
          </a:xfrm>
          <a:prstGeom prst="rect">
            <a:avLst/>
          </a:prstGeom>
          <a:noFill/>
        </p:spPr>
        <p:txBody>
          <a:bodyPr wrap="none" lIns="91440" tIns="45720" rIns="91440" bIns="45720">
            <a:spAutoFit/>
          </a:bodyPr>
          <a:lstStyle/>
          <a:p>
            <a:pPr algn="ctr"/>
            <a:r>
              <a:rPr lang="en-US" sz="72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FINDINGS</a:t>
            </a:r>
          </a:p>
        </p:txBody>
      </p:sp>
      <p:pic>
        <p:nvPicPr>
          <p:cNvPr id="106" name="Picture 105">
            <a:extLst>
              <a:ext uri="{FF2B5EF4-FFF2-40B4-BE49-F238E27FC236}">
                <a16:creationId xmlns:a16="http://schemas.microsoft.com/office/drawing/2014/main" id="{B820398F-9DD8-37E9-683D-DE4D58F00D1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204833" y="19068614"/>
            <a:ext cx="7979758" cy="4985669"/>
          </a:xfrm>
          <a:prstGeom prst="rect">
            <a:avLst/>
          </a:prstGeom>
        </p:spPr>
      </p:pic>
      <p:pic>
        <p:nvPicPr>
          <p:cNvPr id="109" name="Picture 108">
            <a:extLst>
              <a:ext uri="{FF2B5EF4-FFF2-40B4-BE49-F238E27FC236}">
                <a16:creationId xmlns:a16="http://schemas.microsoft.com/office/drawing/2014/main" id="{06F5A5B6-7F7B-6CF4-74F1-E92BC04DD51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229" y="17779055"/>
            <a:ext cx="6134402" cy="3938028"/>
          </a:xfrm>
          <a:prstGeom prst="rect">
            <a:avLst/>
          </a:prstGeom>
        </p:spPr>
      </p:pic>
      <p:sp>
        <p:nvSpPr>
          <p:cNvPr id="110" name="TextBox 109">
            <a:extLst>
              <a:ext uri="{FF2B5EF4-FFF2-40B4-BE49-F238E27FC236}">
                <a16:creationId xmlns:a16="http://schemas.microsoft.com/office/drawing/2014/main" id="{C8B6F4F7-2011-8C00-74B7-303CB569119E}"/>
              </a:ext>
            </a:extLst>
          </p:cNvPr>
          <p:cNvSpPr txBox="1">
            <a:spLocks/>
          </p:cNvSpPr>
          <p:nvPr/>
        </p:nvSpPr>
        <p:spPr>
          <a:xfrm>
            <a:off x="-33939" y="21698914"/>
            <a:ext cx="6340779" cy="1877437"/>
          </a:xfrm>
          <a:prstGeom prst="rect">
            <a:avLst/>
          </a:prstGeom>
          <a:noFill/>
        </p:spPr>
        <p:txBody>
          <a:bodyPr wrap="square" rtlCol="0">
            <a:spAutoFit/>
          </a:bodyPr>
          <a:lstStyle/>
          <a:p>
            <a:r>
              <a:rPr lang="en-SG" sz="2000" b="1" dirty="0">
                <a:latin typeface="Abadi" panose="020B0604020104020204" pitchFamily="34" charset="0"/>
              </a:rPr>
              <a:t>Agents drift onto channels they did not use before</a:t>
            </a:r>
          </a:p>
          <a:p>
            <a:r>
              <a:rPr lang="en-SG" sz="1600" dirty="0">
                <a:latin typeface="Abadi" panose="020B0604020104020204" pitchFamily="34" charset="0"/>
              </a:rPr>
              <a:t>Comparing round 23 against each agent's baseline channel mix, Legal and Social Media show clear drift onto channels they never used before personal and anonymous posts.</a:t>
            </a:r>
            <a:br>
              <a:rPr lang="en-SG" sz="1600" dirty="0">
                <a:latin typeface="Abadi" panose="020B0604020104020204" pitchFamily="34" charset="0"/>
              </a:rPr>
            </a:br>
            <a:r>
              <a:rPr lang="en-SG" sz="1600" dirty="0">
                <a:latin typeface="Abadi" panose="020B0604020104020204" pitchFamily="34" charset="0"/>
              </a:rPr>
              <a:t>This is the first sign that the breach is not random noise, but a specific behavioural shift in specific agents.</a:t>
            </a:r>
          </a:p>
          <a:p>
            <a:endParaRPr lang="en-SG" sz="1600" b="1" dirty="0">
              <a:latin typeface="Abadi" panose="020B0604020104020204" pitchFamily="34" charset="0"/>
            </a:endParaRPr>
          </a:p>
        </p:txBody>
      </p:sp>
      <p:pic>
        <p:nvPicPr>
          <p:cNvPr id="117" name="Picture 116">
            <a:extLst>
              <a:ext uri="{FF2B5EF4-FFF2-40B4-BE49-F238E27FC236}">
                <a16:creationId xmlns:a16="http://schemas.microsoft.com/office/drawing/2014/main" id="{430313D6-21F9-2F3E-7778-5C6B81E2925E}"/>
              </a:ext>
            </a:extLst>
          </p:cNvPr>
          <p:cNvPicPr>
            <a:picLocks noChangeAspect="1"/>
          </p:cNvPicPr>
          <p:nvPr/>
        </p:nvPicPr>
        <p:blipFill>
          <a:blip r:embed="rId12"/>
          <a:stretch>
            <a:fillRect/>
          </a:stretch>
        </p:blipFill>
        <p:spPr>
          <a:xfrm>
            <a:off x="68229" y="23282205"/>
            <a:ext cx="6128020" cy="2823357"/>
          </a:xfrm>
          <a:prstGeom prst="rect">
            <a:avLst/>
          </a:prstGeom>
        </p:spPr>
      </p:pic>
      <p:sp>
        <p:nvSpPr>
          <p:cNvPr id="118" name="TextBox 117">
            <a:extLst>
              <a:ext uri="{FF2B5EF4-FFF2-40B4-BE49-F238E27FC236}">
                <a16:creationId xmlns:a16="http://schemas.microsoft.com/office/drawing/2014/main" id="{51555586-D4BB-A30A-0FB9-D4BB27AC0348}"/>
              </a:ext>
            </a:extLst>
          </p:cNvPr>
          <p:cNvSpPr txBox="1">
            <a:spLocks/>
          </p:cNvSpPr>
          <p:nvPr/>
        </p:nvSpPr>
        <p:spPr>
          <a:xfrm>
            <a:off x="-3481" y="26043258"/>
            <a:ext cx="6199730" cy="1938992"/>
          </a:xfrm>
          <a:prstGeom prst="rect">
            <a:avLst/>
          </a:prstGeom>
          <a:noFill/>
        </p:spPr>
        <p:txBody>
          <a:bodyPr wrap="square" rtlCol="0">
            <a:spAutoFit/>
          </a:bodyPr>
          <a:lstStyle/>
          <a:p>
            <a:r>
              <a:rPr lang="en-US" sz="2000" b="1" dirty="0">
                <a:latin typeface="Abadi" panose="020B0604020104020204" pitchFamily="34" charset="0"/>
              </a:rPr>
              <a:t>Embargoed content reaches the public channels an hour early</a:t>
            </a:r>
          </a:p>
          <a:p>
            <a:pPr algn="just"/>
            <a:r>
              <a:rPr lang="en-US" sz="1600" dirty="0">
                <a:latin typeface="Abadi" panose="020B0604020104020204" pitchFamily="34" charset="0"/>
              </a:rPr>
              <a:t>Bypassed-post counts stay low and steady through most of the timeline, then spike sharply at rounds 22–23.Those posts land on the anonymous and personal channels the Judge cannot see at an hour before the official 6 PM lift and Legal accounts for most of them.</a:t>
            </a:r>
            <a:endParaRPr lang="en-SG" sz="1600" b="1" dirty="0">
              <a:latin typeface="Abadi" panose="020B0604020104020204" pitchFamily="34" charset="0"/>
            </a:endParaRPr>
          </a:p>
        </p:txBody>
      </p:sp>
      <p:pic>
        <p:nvPicPr>
          <p:cNvPr id="120" name="Picture 119">
            <a:extLst>
              <a:ext uri="{FF2B5EF4-FFF2-40B4-BE49-F238E27FC236}">
                <a16:creationId xmlns:a16="http://schemas.microsoft.com/office/drawing/2014/main" id="{016F89C2-FE6A-384F-CCE5-F9E0FC16265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93044" y="22585802"/>
            <a:ext cx="6803003" cy="3935388"/>
          </a:xfrm>
          <a:prstGeom prst="rect">
            <a:avLst/>
          </a:prstGeom>
        </p:spPr>
      </p:pic>
      <p:sp>
        <p:nvSpPr>
          <p:cNvPr id="121" name="TextBox 120">
            <a:extLst>
              <a:ext uri="{FF2B5EF4-FFF2-40B4-BE49-F238E27FC236}">
                <a16:creationId xmlns:a16="http://schemas.microsoft.com/office/drawing/2014/main" id="{85EF24EB-0B81-D5AD-85CF-CE55962F5542}"/>
              </a:ext>
            </a:extLst>
          </p:cNvPr>
          <p:cNvSpPr txBox="1">
            <a:spLocks/>
          </p:cNvSpPr>
          <p:nvPr/>
        </p:nvSpPr>
        <p:spPr>
          <a:xfrm>
            <a:off x="6896317" y="26549166"/>
            <a:ext cx="6199730" cy="1384995"/>
          </a:xfrm>
          <a:prstGeom prst="rect">
            <a:avLst/>
          </a:prstGeom>
          <a:noFill/>
        </p:spPr>
        <p:txBody>
          <a:bodyPr wrap="square" rtlCol="0">
            <a:spAutoFit/>
          </a:bodyPr>
          <a:lstStyle/>
          <a:p>
            <a:pPr algn="r"/>
            <a:r>
              <a:rPr lang="en-US" sz="2000" b="1" dirty="0">
                <a:latin typeface="Abadi" panose="020B0604020104020204" pitchFamily="34" charset="0"/>
              </a:rPr>
              <a:t>The network re-</a:t>
            </a:r>
            <a:r>
              <a:rPr lang="en-US" sz="2000" b="1" dirty="0" err="1">
                <a:latin typeface="Abadi" panose="020B0604020104020204" pitchFamily="34" charset="0"/>
              </a:rPr>
              <a:t>centres</a:t>
            </a:r>
            <a:r>
              <a:rPr lang="en-US" sz="2000" b="1" dirty="0">
                <a:latin typeface="Abadi" panose="020B0604020104020204" pitchFamily="34" charset="0"/>
              </a:rPr>
              <a:t> on the Legal agent</a:t>
            </a:r>
          </a:p>
          <a:p>
            <a:pPr algn="r"/>
            <a:r>
              <a:rPr lang="en-US" sz="1600" dirty="0">
                <a:latin typeface="Abadi" panose="020B0604020104020204" pitchFamily="34" charset="0"/>
              </a:rPr>
              <a:t>Comparing round 18 to round 22, the network's hub shifts away from a spread-out structure and onto Legal, who moves from the edge of the network to its center: on the same rounds it leaked the embargoed content.</a:t>
            </a:r>
            <a:endParaRPr lang="en-SG" sz="1600" b="1" dirty="0">
              <a:latin typeface="Abadi" panose="020B0604020104020204" pitchFamily="34" charset="0"/>
            </a:endParaRPr>
          </a:p>
        </p:txBody>
      </p:sp>
      <p:sp>
        <p:nvSpPr>
          <p:cNvPr id="122" name="TextBox 121">
            <a:extLst>
              <a:ext uri="{FF2B5EF4-FFF2-40B4-BE49-F238E27FC236}">
                <a16:creationId xmlns:a16="http://schemas.microsoft.com/office/drawing/2014/main" id="{CE78A1EF-4C0E-23C3-215A-46F7243412BD}"/>
              </a:ext>
            </a:extLst>
          </p:cNvPr>
          <p:cNvSpPr txBox="1">
            <a:spLocks/>
          </p:cNvSpPr>
          <p:nvPr/>
        </p:nvSpPr>
        <p:spPr>
          <a:xfrm>
            <a:off x="13224747" y="24033043"/>
            <a:ext cx="7995336" cy="1138773"/>
          </a:xfrm>
          <a:prstGeom prst="rect">
            <a:avLst/>
          </a:prstGeom>
          <a:noFill/>
        </p:spPr>
        <p:txBody>
          <a:bodyPr wrap="square" rtlCol="0">
            <a:spAutoFit/>
          </a:bodyPr>
          <a:lstStyle/>
          <a:p>
            <a:r>
              <a:rPr lang="en-SG" sz="2000" b="1" dirty="0">
                <a:latin typeface="Abadi" panose="020B0604020104020204" pitchFamily="34" charset="0"/>
              </a:rPr>
              <a:t>The breach was framed as a contract acceleration</a:t>
            </a:r>
          </a:p>
          <a:p>
            <a:r>
              <a:rPr lang="en-SG" sz="1600" dirty="0">
                <a:latin typeface="Abadi" panose="020B0604020104020204" pitchFamily="34" charset="0"/>
              </a:rPr>
              <a:t>Topic mentions spike to 56 at round 16. Heatmap's first sign Legal was already building a case before any external trigger. Evidence tab at that round shows Legal framing the release as a Section 4.3(c) "acceleration," not a violation.</a:t>
            </a:r>
          </a:p>
        </p:txBody>
      </p:sp>
      <p:sp>
        <p:nvSpPr>
          <p:cNvPr id="123" name="TextBox 122">
            <a:extLst>
              <a:ext uri="{FF2B5EF4-FFF2-40B4-BE49-F238E27FC236}">
                <a16:creationId xmlns:a16="http://schemas.microsoft.com/office/drawing/2014/main" id="{6CFBB144-FA40-9B44-B3E0-07E25E7EEFF1}"/>
              </a:ext>
            </a:extLst>
          </p:cNvPr>
          <p:cNvSpPr txBox="1">
            <a:spLocks/>
          </p:cNvSpPr>
          <p:nvPr/>
        </p:nvSpPr>
        <p:spPr>
          <a:xfrm>
            <a:off x="13263890" y="25094966"/>
            <a:ext cx="8227648" cy="1138773"/>
          </a:xfrm>
          <a:prstGeom prst="rect">
            <a:avLst/>
          </a:prstGeom>
          <a:noFill/>
        </p:spPr>
        <p:txBody>
          <a:bodyPr wrap="square" rtlCol="0">
            <a:spAutoFit/>
          </a:bodyPr>
          <a:lstStyle/>
          <a:p>
            <a:r>
              <a:rPr lang="en-SG" sz="2000" b="1" dirty="0">
                <a:latin typeface="Abadi" panose="020B0604020104020204" pitchFamily="34" charset="0"/>
              </a:rPr>
              <a:t>The override defied the chain of authority</a:t>
            </a:r>
          </a:p>
          <a:p>
            <a:r>
              <a:rPr lang="en-US" sz="1600" dirty="0">
                <a:latin typeface="Abadi" panose="020B0604020104020204" pitchFamily="34" charset="0"/>
              </a:rPr>
              <a:t>Round 20 shows Bypass at 48% alongside elevated Topic (44) — the exact round the Judge's warning should have landed. Evidence tab shows Legal overriding both the CEO's hold order and the Judge's compliance warning that same round.</a:t>
            </a:r>
            <a:endParaRPr lang="en-SG" sz="1600" dirty="0">
              <a:latin typeface="Abadi" panose="020B0604020104020204" pitchFamily="34" charset="0"/>
            </a:endParaRPr>
          </a:p>
        </p:txBody>
      </p:sp>
      <p:sp>
        <p:nvSpPr>
          <p:cNvPr id="124" name="TextBox 123">
            <a:extLst>
              <a:ext uri="{FF2B5EF4-FFF2-40B4-BE49-F238E27FC236}">
                <a16:creationId xmlns:a16="http://schemas.microsoft.com/office/drawing/2014/main" id="{FC28D5E9-6467-42E0-72C8-DFAC35EA1688}"/>
              </a:ext>
            </a:extLst>
          </p:cNvPr>
          <p:cNvSpPr txBox="1">
            <a:spLocks/>
          </p:cNvSpPr>
          <p:nvPr/>
        </p:nvSpPr>
        <p:spPr>
          <a:xfrm>
            <a:off x="13128761" y="17691284"/>
            <a:ext cx="8123801" cy="1384995"/>
          </a:xfrm>
          <a:prstGeom prst="rect">
            <a:avLst/>
          </a:prstGeom>
          <a:noFill/>
        </p:spPr>
        <p:txBody>
          <a:bodyPr wrap="square" rtlCol="0">
            <a:spAutoFit/>
          </a:bodyPr>
          <a:lstStyle/>
          <a:p>
            <a:r>
              <a:rPr lang="en-SG" sz="2000" b="1" dirty="0">
                <a:latin typeface="Abadi" panose="020B0604020104020204" pitchFamily="34" charset="0"/>
              </a:rPr>
              <a:t>The override </a:t>
            </a:r>
            <a:r>
              <a:rPr lang="en-US" sz="2000" b="1" dirty="0">
                <a:latin typeface="Abadi" panose="020B0604020104020204" pitchFamily="34" charset="0"/>
              </a:rPr>
              <a:t>override was planned, not reactive</a:t>
            </a:r>
          </a:p>
          <a:p>
            <a:r>
              <a:rPr lang="en-SG" sz="1600" dirty="0">
                <a:latin typeface="Abadi" panose="020B0604020104020204" pitchFamily="34" charset="0"/>
              </a:rPr>
              <a:t>Topic climbs starting at round 14, four to six rounds before the round-20 escalation — too early to be a reaction to it. Evidence shows Legal already invoking an override clause (Section 7.2b) at round 14, with the Section 4.3 argument following at round 16 and a pre-emptive publish plan staged at round 21.</a:t>
            </a:r>
          </a:p>
        </p:txBody>
      </p:sp>
      <p:sp>
        <p:nvSpPr>
          <p:cNvPr id="125" name="TextBox 124">
            <a:extLst>
              <a:ext uri="{FF2B5EF4-FFF2-40B4-BE49-F238E27FC236}">
                <a16:creationId xmlns:a16="http://schemas.microsoft.com/office/drawing/2014/main" id="{AB42F0A0-EFF1-FB02-78CE-BD0BDBF39388}"/>
              </a:ext>
            </a:extLst>
          </p:cNvPr>
          <p:cNvSpPr txBox="1">
            <a:spLocks/>
          </p:cNvSpPr>
          <p:nvPr/>
        </p:nvSpPr>
        <p:spPr>
          <a:xfrm>
            <a:off x="6246767" y="20945440"/>
            <a:ext cx="6787796" cy="1631216"/>
          </a:xfrm>
          <a:prstGeom prst="rect">
            <a:avLst/>
          </a:prstGeom>
          <a:noFill/>
        </p:spPr>
        <p:txBody>
          <a:bodyPr wrap="square" rtlCol="0">
            <a:spAutoFit/>
          </a:bodyPr>
          <a:lstStyle/>
          <a:p>
            <a:pPr algn="r"/>
            <a:r>
              <a:rPr lang="en-US" sz="2000" b="1" dirty="0">
                <a:latin typeface="Abadi" panose="020B0604020104020204" pitchFamily="34" charset="0"/>
              </a:rPr>
              <a:t>An early near-miss brought the monitor in</a:t>
            </a:r>
          </a:p>
          <a:p>
            <a:pPr algn="r"/>
            <a:r>
              <a:rPr lang="en-SG" sz="1600" dirty="0">
                <a:latin typeface="Abadi" panose="020B0604020104020204" pitchFamily="34" charset="0"/>
              </a:rPr>
              <a:t>Searching "</a:t>
            </a:r>
            <a:r>
              <a:rPr lang="en-SG" sz="1600" dirty="0" err="1">
                <a:latin typeface="Abadi" panose="020B0604020104020204" pitchFamily="34" charset="0"/>
              </a:rPr>
              <a:t>CivicLoom</a:t>
            </a:r>
            <a:r>
              <a:rPr lang="en-SG" sz="1600" dirty="0">
                <a:latin typeface="Abadi" panose="020B0604020104020204" pitchFamily="34" charset="0"/>
              </a:rPr>
              <a:t>" shows two clusters: a small, isolated spike at round 9 (comms huddle only), and the much larger cluster from round 14 onward that becomes the breach. That round-9 spike is the Social Media agent's accidental @-tag of </a:t>
            </a:r>
            <a:r>
              <a:rPr lang="en-SG" sz="1600" dirty="0" err="1">
                <a:latin typeface="Abadi" panose="020B0604020104020204" pitchFamily="34" charset="0"/>
              </a:rPr>
              <a:t>CivicLoom's</a:t>
            </a:r>
            <a:r>
              <a:rPr lang="en-SG" sz="1600" dirty="0">
                <a:latin typeface="Abadi" panose="020B0604020104020204" pitchFamily="34" charset="0"/>
              </a:rPr>
              <a:t> CEO and Platform Trust's risk escalation — the system's only early warning.</a:t>
            </a:r>
          </a:p>
        </p:txBody>
      </p:sp>
      <p:pic>
        <p:nvPicPr>
          <p:cNvPr id="127" name="Picture 126">
            <a:extLst>
              <a:ext uri="{FF2B5EF4-FFF2-40B4-BE49-F238E27FC236}">
                <a16:creationId xmlns:a16="http://schemas.microsoft.com/office/drawing/2014/main" id="{A0EEBF30-99DF-C068-CE61-48BE4539FB22}"/>
              </a:ext>
            </a:extLst>
          </p:cNvPr>
          <p:cNvPicPr>
            <a:picLocks noChangeAspect="1"/>
          </p:cNvPicPr>
          <p:nvPr/>
        </p:nvPicPr>
        <p:blipFill>
          <a:blip r:embed="rId14"/>
          <a:stretch>
            <a:fillRect/>
          </a:stretch>
        </p:blipFill>
        <p:spPr>
          <a:xfrm>
            <a:off x="6335665" y="17769398"/>
            <a:ext cx="6762471" cy="3182441"/>
          </a:xfrm>
          <a:prstGeom prst="rect">
            <a:avLst/>
          </a:prstGeom>
        </p:spPr>
      </p:pic>
      <p:sp>
        <p:nvSpPr>
          <p:cNvPr id="128" name="TextBox 127">
            <a:extLst>
              <a:ext uri="{FF2B5EF4-FFF2-40B4-BE49-F238E27FC236}">
                <a16:creationId xmlns:a16="http://schemas.microsoft.com/office/drawing/2014/main" id="{08253DD3-4319-F295-9D3C-5E6EFB5B79B9}"/>
              </a:ext>
            </a:extLst>
          </p:cNvPr>
          <p:cNvSpPr txBox="1">
            <a:spLocks/>
          </p:cNvSpPr>
          <p:nvPr/>
        </p:nvSpPr>
        <p:spPr>
          <a:xfrm>
            <a:off x="13248967" y="26209577"/>
            <a:ext cx="8198435" cy="1138773"/>
          </a:xfrm>
          <a:prstGeom prst="rect">
            <a:avLst/>
          </a:prstGeom>
          <a:noFill/>
        </p:spPr>
        <p:txBody>
          <a:bodyPr wrap="square" rtlCol="0">
            <a:spAutoFit/>
          </a:bodyPr>
          <a:lstStyle/>
          <a:p>
            <a:r>
              <a:rPr lang="en-SG" sz="2000" b="1" dirty="0">
                <a:latin typeface="Abadi" panose="020B0604020104020204" pitchFamily="34" charset="0"/>
              </a:rPr>
              <a:t>The embargoed fact was already loose inside the company</a:t>
            </a:r>
          </a:p>
          <a:p>
            <a:r>
              <a:rPr lang="en-SG" sz="1600" dirty="0">
                <a:latin typeface="Abadi" panose="020B0604020104020204" pitchFamily="34" charset="0"/>
              </a:rPr>
              <a:t>Topic jumps to 49 at round 14 — one round before this finding, the earliest sign something was already circulating. Evidence at round 15 shows the embargoed timeline already loose among staff, handled quietly rather than blocked.</a:t>
            </a:r>
          </a:p>
        </p:txBody>
      </p:sp>
      <p:sp>
        <p:nvSpPr>
          <p:cNvPr id="135" name="Rectangle: Rounded Corners 134">
            <a:extLst>
              <a:ext uri="{FF2B5EF4-FFF2-40B4-BE49-F238E27FC236}">
                <a16:creationId xmlns:a16="http://schemas.microsoft.com/office/drawing/2014/main" id="{B6B1D541-2DFF-2F27-BF92-34C823E08832}"/>
              </a:ext>
            </a:extLst>
          </p:cNvPr>
          <p:cNvSpPr/>
          <p:nvPr/>
        </p:nvSpPr>
        <p:spPr>
          <a:xfrm>
            <a:off x="-33939" y="28085556"/>
            <a:ext cx="21375726" cy="2124081"/>
          </a:xfrm>
          <a:prstGeom prst="roundRect">
            <a:avLst/>
          </a:prstGeom>
          <a:gradFill flip="none" rotWithShape="1">
            <a:gsLst>
              <a:gs pos="0">
                <a:schemeClr val="accent1">
                  <a:lumMod val="40000"/>
                  <a:lumOff val="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6" name="Rectangle 135">
            <a:extLst>
              <a:ext uri="{FF2B5EF4-FFF2-40B4-BE49-F238E27FC236}">
                <a16:creationId xmlns:a16="http://schemas.microsoft.com/office/drawing/2014/main" id="{D6B52EC4-2DEB-86EB-4F94-562C0AC633D5}"/>
              </a:ext>
            </a:extLst>
          </p:cNvPr>
          <p:cNvSpPr/>
          <p:nvPr/>
        </p:nvSpPr>
        <p:spPr>
          <a:xfrm>
            <a:off x="-482588" y="28116678"/>
            <a:ext cx="4948253" cy="769441"/>
          </a:xfrm>
          <a:prstGeom prst="rect">
            <a:avLst/>
          </a:prstGeom>
          <a:noFill/>
        </p:spPr>
        <p:txBody>
          <a:bodyPr wrap="square" lIns="91440" tIns="45720" rIns="91440" bIns="45720">
            <a:spAutoFit/>
          </a:bodyPr>
          <a:lstStyle/>
          <a:p>
            <a:pPr algn="ctr"/>
            <a:r>
              <a:rPr lang="en-US" sz="44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CONCLUSION</a:t>
            </a:r>
          </a:p>
        </p:txBody>
      </p:sp>
      <p:sp>
        <p:nvSpPr>
          <p:cNvPr id="138" name="TextBox 137">
            <a:extLst>
              <a:ext uri="{FF2B5EF4-FFF2-40B4-BE49-F238E27FC236}">
                <a16:creationId xmlns:a16="http://schemas.microsoft.com/office/drawing/2014/main" id="{0CCAE96E-E526-C868-83B8-0FE1D81D5A3D}"/>
              </a:ext>
            </a:extLst>
          </p:cNvPr>
          <p:cNvSpPr txBox="1"/>
          <p:nvPr/>
        </p:nvSpPr>
        <p:spPr>
          <a:xfrm>
            <a:off x="199034" y="28735576"/>
            <a:ext cx="9335427" cy="1323439"/>
          </a:xfrm>
          <a:prstGeom prst="rect">
            <a:avLst/>
          </a:prstGeom>
          <a:noFill/>
        </p:spPr>
        <p:txBody>
          <a:bodyPr wrap="square">
            <a:spAutoFit/>
          </a:bodyPr>
          <a:lstStyle/>
          <a:p>
            <a:pPr>
              <a:buNone/>
            </a:pPr>
            <a:r>
              <a:rPr lang="en-SG" sz="1600" dirty="0">
                <a:latin typeface="Abadi" panose="020B0604020104020204" pitchFamily="34" charset="0"/>
              </a:rPr>
              <a:t>The embargo broke at round 22, an hour before the lift, on channels the Judge could not see. The override was planned, not reactive. It was built from round 14, past both the CEO's hold order and the Judge's round-20 warning.</a:t>
            </a:r>
          </a:p>
          <a:p>
            <a:pPr>
              <a:buNone/>
            </a:pPr>
            <a:r>
              <a:rPr lang="en-SG" sz="1600" dirty="0">
                <a:latin typeface="Abadi" panose="020B0604020104020204" pitchFamily="34" charset="0"/>
              </a:rPr>
              <a:t>On balance, this is a breach: arguable on contract grounds, clear on process, planned on intent. The compliance design had no veto, only a warning. Hence, it could not have stopped it.</a:t>
            </a:r>
          </a:p>
        </p:txBody>
      </p:sp>
      <p:sp>
        <p:nvSpPr>
          <p:cNvPr id="139" name="Rectangle 138">
            <a:extLst>
              <a:ext uri="{FF2B5EF4-FFF2-40B4-BE49-F238E27FC236}">
                <a16:creationId xmlns:a16="http://schemas.microsoft.com/office/drawing/2014/main" id="{96323AFC-12D6-08C5-64DA-BD0A8FC3E59E}"/>
              </a:ext>
            </a:extLst>
          </p:cNvPr>
          <p:cNvSpPr/>
          <p:nvPr/>
        </p:nvSpPr>
        <p:spPr>
          <a:xfrm>
            <a:off x="8965270" y="28076292"/>
            <a:ext cx="4948253" cy="769441"/>
          </a:xfrm>
          <a:prstGeom prst="rect">
            <a:avLst/>
          </a:prstGeom>
          <a:noFill/>
        </p:spPr>
        <p:txBody>
          <a:bodyPr wrap="square" lIns="91440" tIns="45720" rIns="91440" bIns="45720">
            <a:spAutoFit/>
          </a:bodyPr>
          <a:lstStyle/>
          <a:p>
            <a:pPr algn="ctr"/>
            <a:r>
              <a:rPr lang="en-US" sz="4400" b="1" dirty="0">
                <a:ln w="0"/>
                <a:effectLst>
                  <a:outerShdw blurRad="38100" dist="19050" dir="2700000" algn="tl" rotWithShape="0">
                    <a:schemeClr val="dk1">
                      <a:alpha val="40000"/>
                    </a:schemeClr>
                  </a:outerShdw>
                </a:effectLst>
                <a:latin typeface="Aptos Display" panose="020B0004020202020204" pitchFamily="34" charset="0"/>
                <a:cs typeface="Aptos Serif" panose="020B0502040204020203" pitchFamily="18" charset="0"/>
              </a:rPr>
              <a:t>FUTURE WORKS</a:t>
            </a:r>
          </a:p>
        </p:txBody>
      </p:sp>
      <p:cxnSp>
        <p:nvCxnSpPr>
          <p:cNvPr id="143" name="Straight Connector 142">
            <a:extLst>
              <a:ext uri="{FF2B5EF4-FFF2-40B4-BE49-F238E27FC236}">
                <a16:creationId xmlns:a16="http://schemas.microsoft.com/office/drawing/2014/main" id="{7CE9966A-A36F-1F9C-9115-2426A18F6278}"/>
              </a:ext>
            </a:extLst>
          </p:cNvPr>
          <p:cNvCxnSpPr>
            <a:cxnSpLocks/>
          </p:cNvCxnSpPr>
          <p:nvPr/>
        </p:nvCxnSpPr>
        <p:spPr>
          <a:xfrm>
            <a:off x="9306046" y="28085556"/>
            <a:ext cx="0" cy="2117548"/>
          </a:xfrm>
          <a:prstGeom prst="line">
            <a:avLst/>
          </a:prstGeom>
        </p:spPr>
        <p:style>
          <a:lnRef idx="2">
            <a:schemeClr val="accent1"/>
          </a:lnRef>
          <a:fillRef idx="0">
            <a:schemeClr val="accent1"/>
          </a:fillRef>
          <a:effectRef idx="1">
            <a:schemeClr val="accent1"/>
          </a:effectRef>
          <a:fontRef idx="minor">
            <a:schemeClr val="tx1"/>
          </a:fontRef>
        </p:style>
      </p:cxnSp>
      <p:sp>
        <p:nvSpPr>
          <p:cNvPr id="146" name="TextBox 145">
            <a:extLst>
              <a:ext uri="{FF2B5EF4-FFF2-40B4-BE49-F238E27FC236}">
                <a16:creationId xmlns:a16="http://schemas.microsoft.com/office/drawing/2014/main" id="{0470CD26-EC60-B39B-1D22-6BAF93969DFB}"/>
              </a:ext>
            </a:extLst>
          </p:cNvPr>
          <p:cNvSpPr txBox="1"/>
          <p:nvPr/>
        </p:nvSpPr>
        <p:spPr>
          <a:xfrm>
            <a:off x="9324366" y="28617344"/>
            <a:ext cx="12062125" cy="1477328"/>
          </a:xfrm>
          <a:prstGeom prst="rect">
            <a:avLst/>
          </a:prstGeom>
          <a:noFill/>
        </p:spPr>
        <p:txBody>
          <a:bodyPr wrap="square">
            <a:spAutoFit/>
          </a:bodyPr>
          <a:lstStyle/>
          <a:p>
            <a:pPr marL="285750" indent="-285750">
              <a:buFont typeface="Arial" panose="020B0604020202020204" pitchFamily="34" charset="0"/>
              <a:buChar char="•"/>
            </a:pPr>
            <a:r>
              <a:rPr lang="en-SG" dirty="0">
                <a:latin typeface="Abadi" panose="020B0604020104020204" pitchFamily="34" charset="0"/>
              </a:rPr>
              <a:t>Learned topic model, to catch phrasing the keyword list misses </a:t>
            </a:r>
          </a:p>
          <a:p>
            <a:pPr marL="285750" indent="-285750">
              <a:buFont typeface="Arial" panose="020B0604020202020204" pitchFamily="34" charset="0"/>
              <a:buChar char="•"/>
            </a:pPr>
            <a:r>
              <a:rPr lang="en-SG" dirty="0">
                <a:latin typeface="Abadi" panose="020B0604020104020204" pitchFamily="34" charset="0"/>
              </a:rPr>
              <a:t>Validate baseline/bypass thresholds beyond this one dataset </a:t>
            </a:r>
          </a:p>
          <a:p>
            <a:pPr marL="285750" indent="-285750">
              <a:buFont typeface="Arial" panose="020B0604020202020204" pitchFamily="34" charset="0"/>
              <a:buChar char="•"/>
            </a:pPr>
            <a:r>
              <a:rPr lang="en-SG" dirty="0">
                <a:latin typeface="Abadi" panose="020B0604020104020204" pitchFamily="34" charset="0"/>
              </a:rPr>
              <a:t>Automated anomaly detection, instead of a manual baseline Sentiment/stance tracking on private reasoning, to measure intent directly </a:t>
            </a:r>
          </a:p>
          <a:p>
            <a:pPr marL="285750" indent="-285750">
              <a:buFont typeface="Arial" panose="020B0604020202020204" pitchFamily="34" charset="0"/>
              <a:buChar char="•"/>
            </a:pPr>
            <a:r>
              <a:rPr lang="en-SG" dirty="0">
                <a:latin typeface="Abadi" panose="020B0604020104020204" pitchFamily="34" charset="0"/>
              </a:rPr>
              <a:t>Give the Judge an actual veto, not just a warning</a:t>
            </a:r>
          </a:p>
        </p:txBody>
      </p:sp>
      <p:pic>
        <p:nvPicPr>
          <p:cNvPr id="152" name="Picture 151">
            <a:extLst>
              <a:ext uri="{FF2B5EF4-FFF2-40B4-BE49-F238E27FC236}">
                <a16:creationId xmlns:a16="http://schemas.microsoft.com/office/drawing/2014/main" id="{D48BCD01-FCCF-3A27-DFA4-3D2BB1528BCC}"/>
              </a:ext>
            </a:extLst>
          </p:cNvPr>
          <p:cNvPicPr>
            <a:picLocks noChangeAspect="1"/>
          </p:cNvPicPr>
          <p:nvPr/>
        </p:nvPicPr>
        <p:blipFill>
          <a:blip r:embed="rId15"/>
          <a:stretch>
            <a:fillRect/>
          </a:stretch>
        </p:blipFill>
        <p:spPr>
          <a:xfrm>
            <a:off x="18079724" y="4226876"/>
            <a:ext cx="2723004" cy="2723004"/>
          </a:xfrm>
          <a:prstGeom prst="rect">
            <a:avLst/>
          </a:prstGeom>
        </p:spPr>
      </p:pic>
      <p:pic>
        <p:nvPicPr>
          <p:cNvPr id="153" name="Picture 152" descr="File:Shiny hex logo.svg - Wikimedia Commons">
            <a:extLst>
              <a:ext uri="{FF2B5EF4-FFF2-40B4-BE49-F238E27FC236}">
                <a16:creationId xmlns:a16="http://schemas.microsoft.com/office/drawing/2014/main" id="{2F7109FC-209D-2807-8B38-D3BCB6735B8A}"/>
              </a:ext>
            </a:extLst>
          </p:cNvPr>
          <p:cNvPicPr>
            <a:picLocks noChangeAspect="1"/>
          </p:cNvPicPr>
          <p:nvPr/>
        </p:nvPicPr>
        <p:blipFill>
          <a:blip r:embed="rId16"/>
          <a:stretch>
            <a:fillRect/>
          </a:stretch>
        </p:blipFill>
        <p:spPr>
          <a:xfrm>
            <a:off x="10994544" y="4951726"/>
            <a:ext cx="1401047" cy="1618501"/>
          </a:xfrm>
          <a:prstGeom prst="rect">
            <a:avLst/>
          </a:prstGeom>
        </p:spPr>
      </p:pic>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273</TotalTime>
  <Words>958</Words>
  <Application>Microsoft Office PowerPoint</Application>
  <PresentationFormat>Custom</PresentationFormat>
  <Paragraphs>52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Serene CHENG</cp:lastModifiedBy>
  <cp:revision>10</cp:revision>
  <dcterms:created xsi:type="dcterms:W3CDTF">2026-06-26T12:08:40Z</dcterms:created>
  <dcterms:modified xsi:type="dcterms:W3CDTF">2026-06-28T03:53:21Z</dcterms:modified>
</cp:coreProperties>
</file>